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68" r:id="rId3"/>
    <p:sldId id="257" r:id="rId4"/>
    <p:sldId id="258" r:id="rId5"/>
    <p:sldId id="259" r:id="rId6"/>
    <p:sldId id="269" r:id="rId7"/>
    <p:sldId id="273" r:id="rId8"/>
    <p:sldId id="261" r:id="rId9"/>
    <p:sldId id="262" r:id="rId10"/>
    <p:sldId id="263"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98" d="100"/>
          <a:sy n="98" d="100"/>
        </p:scale>
        <p:origin x="264"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1138" y="1521502"/>
            <a:ext cx="7882865" cy="2888242"/>
          </a:xfrm>
        </p:spPr>
        <p:txBody>
          <a:bodyPr/>
          <a:lstStyle/>
          <a:p>
            <a:pPr algn="ctr"/>
            <a:r>
              <a:rPr lang="en-US"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t>Smart Adaptive Knowledge-based Soil Hydration</a:t>
            </a:r>
            <a:br>
              <a:rPr lang="en-US"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t> &amp; Automation Module (</a:t>
            </a:r>
            <a:r>
              <a:rPr lang="en-IN"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t>SAKSHAM)</a:t>
            </a:r>
            <a:br>
              <a:rPr lang="en-IN"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br>
              <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t>Project Id :   0612 </a:t>
            </a:r>
            <a:br>
              <a:rPr lang="en-US" sz="20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br>
              <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rPr>
              <a:t>Theme : </a:t>
            </a:r>
            <a:br>
              <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rPr>
              <a:t>Inspired by Nature. For Climate. For Our Future</a:t>
            </a:r>
            <a:br>
              <a:rPr lang="en-US" sz="2000" dirty="0"/>
            </a:br>
            <a:endParaRPr lang="en-US" sz="2000" dirty="0"/>
          </a:p>
        </p:txBody>
      </p:sp>
      <p:sp>
        <p:nvSpPr>
          <p:cNvPr id="3" name="Subtitle 2"/>
          <p:cNvSpPr>
            <a:spLocks noGrp="1"/>
          </p:cNvSpPr>
          <p:nvPr>
            <p:ph type="subTitle" idx="1"/>
          </p:nvPr>
        </p:nvSpPr>
        <p:spPr>
          <a:xfrm>
            <a:off x="1507067" y="5035733"/>
            <a:ext cx="7766936" cy="1096899"/>
          </a:xfrm>
        </p:spPr>
        <p:txBody>
          <a:bodyPr>
            <a:normAutofit fontScale="62500" lnSpcReduction="20000"/>
          </a:bodyPr>
          <a:lstStyle/>
          <a:p>
            <a:pPr algn="ctr"/>
            <a:r>
              <a:rPr lang="en-US" dirty="0"/>
              <a:t>Powered By </a:t>
            </a:r>
          </a:p>
          <a:p>
            <a:pPr algn="ctr"/>
            <a:r>
              <a:rPr lang="en-US" dirty="0"/>
              <a:t>SB.Chetak Innovation </a:t>
            </a:r>
          </a:p>
          <a:p>
            <a:pPr algn="ctr"/>
            <a:r>
              <a:rPr lang="hi-IN" b="1" dirty="0"/>
              <a:t>एस.बी. चेतक इनोवेशन</a:t>
            </a:r>
            <a:endParaRPr lang="en-US" dirty="0"/>
          </a:p>
          <a:p>
            <a:pPr algn="ctr"/>
            <a:r>
              <a:rPr lang="en-US" dirty="0"/>
              <a:t>www.bagresearch.co.in/index.php</a:t>
            </a:r>
          </a:p>
        </p:txBody>
      </p:sp>
      <p:sp>
        <p:nvSpPr>
          <p:cNvPr id="4" name="TextBox 3"/>
          <p:cNvSpPr txBox="1"/>
          <p:nvPr/>
        </p:nvSpPr>
        <p:spPr>
          <a:xfrm>
            <a:off x="2217029" y="1242398"/>
            <a:ext cx="6347012" cy="369332"/>
          </a:xfrm>
          <a:prstGeom prst="rect">
            <a:avLst/>
          </a:prstGeom>
          <a:noFill/>
        </p:spPr>
        <p:txBody>
          <a:bodyPr wrap="square" rtlCol="0">
            <a:spAutoFit/>
          </a:bodyPr>
          <a:lstStyle/>
          <a:p>
            <a:pPr algn="ctr"/>
            <a:r>
              <a:rPr lang="en-US" dirty="0">
                <a:solidFill>
                  <a:schemeClr val="accent2">
                    <a:lumMod val="50000"/>
                  </a:schemeClr>
                </a:solidFill>
              </a:rPr>
              <a:t>Project Title :</a:t>
            </a:r>
          </a:p>
        </p:txBody>
      </p:sp>
      <p:pic>
        <p:nvPicPr>
          <p:cNvPr id="10" name="Picture 9">
            <a:extLst>
              <a:ext uri="{FF2B5EF4-FFF2-40B4-BE49-F238E27FC236}">
                <a16:creationId xmlns:a16="http://schemas.microsoft.com/office/drawing/2014/main" id="{C83AA51E-00DC-4E00-83EF-16D08CEBF500}"/>
              </a:ext>
            </a:extLst>
          </p:cNvPr>
          <p:cNvPicPr>
            <a:picLocks noChangeAspect="1"/>
          </p:cNvPicPr>
          <p:nvPr/>
        </p:nvPicPr>
        <p:blipFill>
          <a:blip r:embed="rId2"/>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255824626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Introduction To This Project </a:t>
            </a:r>
          </a:p>
        </p:txBody>
      </p:sp>
      <p:sp>
        <p:nvSpPr>
          <p:cNvPr id="3" name="Content Placeholder 2"/>
          <p:cNvSpPr>
            <a:spLocks noGrp="1"/>
          </p:cNvSpPr>
          <p:nvPr>
            <p:ph idx="1"/>
          </p:nvPr>
        </p:nvSpPr>
        <p:spPr/>
        <p:txBody>
          <a:bodyPr/>
          <a:lstStyle/>
          <a:p>
            <a:r>
              <a:rPr lang="en-US" sz="2000" b="1" dirty="0"/>
              <a:t>Water is one of the most important resources for plant growth. Traditional irrigation methods often lead to overwatering, under watering, and wastage of water. Climate variations such as temperature, humidity, rainfall, and sunlight significantly affect plant water requirements.</a:t>
            </a:r>
          </a:p>
          <a:p>
            <a:endParaRPr lang="en-US" sz="2000" b="1" dirty="0"/>
          </a:p>
          <a:p>
            <a:r>
              <a:rPr lang="en-US" sz="2000" b="1" dirty="0"/>
              <a:t>This project introduces a Climate-Adaptive Smart Plant Water Management System that automatically monitors environmental conditions and provides optimal watering to plants. The system ensures efficient water utilization while maintaining healthy plant growth.</a:t>
            </a:r>
          </a:p>
          <a:p>
            <a:endParaRPr lang="en-US" dirty="0"/>
          </a:p>
        </p:txBody>
      </p:sp>
      <p:pic>
        <p:nvPicPr>
          <p:cNvPr id="4" name="Picture 3">
            <a:extLst>
              <a:ext uri="{FF2B5EF4-FFF2-40B4-BE49-F238E27FC236}">
                <a16:creationId xmlns:a16="http://schemas.microsoft.com/office/drawing/2014/main" id="{154EBF8A-25C4-478D-84FD-D304DD6EE63D}"/>
              </a:ext>
            </a:extLst>
          </p:cNvPr>
          <p:cNvPicPr>
            <a:picLocks noChangeAspect="1"/>
          </p:cNvPicPr>
          <p:nvPr/>
        </p:nvPicPr>
        <p:blipFill>
          <a:blip r:embed="rId2"/>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22382864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Smart Irrigation System</a:t>
            </a:r>
          </a:p>
        </p:txBody>
      </p:sp>
      <p:pic>
        <p:nvPicPr>
          <p:cNvPr id="4" name="Content Placeholder 3" descr="20110616-NRCS-LSC-0003 | Conventional sprinkler &lt;strong&gt;irrigation&lt;/strong&gt; a… | Flick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2594" y="1710259"/>
            <a:ext cx="7615646" cy="428559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5" name="Picture 4">
            <a:extLst>
              <a:ext uri="{FF2B5EF4-FFF2-40B4-BE49-F238E27FC236}">
                <a16:creationId xmlns:a16="http://schemas.microsoft.com/office/drawing/2014/main" id="{9A9332D4-6E2E-4F1E-9897-78BCC852EF98}"/>
              </a:ext>
            </a:extLst>
          </p:cNvPr>
          <p:cNvPicPr>
            <a:picLocks noChangeAspect="1"/>
          </p:cNvPicPr>
          <p:nvPr/>
        </p:nvPicPr>
        <p:blipFill>
          <a:blip r:embed="rId3"/>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670284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Automate Plant  Watering Based On Soil Conditions</a:t>
            </a:r>
          </a:p>
        </p:txBody>
      </p:sp>
      <p:pic>
        <p:nvPicPr>
          <p:cNvPr id="4" name="Content Placeholder 3" descr="Hands holding a pile of earth &lt;strong&gt;soil&lt;/strong&gt; with a growing plant | Royalty free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5554" y="2160588"/>
            <a:ext cx="6178731" cy="4514532"/>
          </a:xfrm>
        </p:spPr>
      </p:pic>
      <p:pic>
        <p:nvPicPr>
          <p:cNvPr id="5" name="Picture 4">
            <a:extLst>
              <a:ext uri="{FF2B5EF4-FFF2-40B4-BE49-F238E27FC236}">
                <a16:creationId xmlns:a16="http://schemas.microsoft.com/office/drawing/2014/main" id="{AB5B070E-17A9-4119-8060-0A7ADE19A796}"/>
              </a:ext>
            </a:extLst>
          </p:cNvPr>
          <p:cNvPicPr>
            <a:picLocks noChangeAspect="1"/>
          </p:cNvPicPr>
          <p:nvPr/>
        </p:nvPicPr>
        <p:blipFill>
          <a:blip r:embed="rId3"/>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15988348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Conserve Water By Avoiding Unnecessary Irrigation </a:t>
            </a:r>
          </a:p>
        </p:txBody>
      </p:sp>
      <p:pic>
        <p:nvPicPr>
          <p:cNvPr id="4" name="Content Placeholder 3" descr="Franklin Matters: Town of Franklin: E-Newsletter for May 202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5300" y="2160588"/>
            <a:ext cx="3881437" cy="3881437"/>
          </a:xfrm>
        </p:spPr>
      </p:pic>
      <p:pic>
        <p:nvPicPr>
          <p:cNvPr id="5" name="Picture 4">
            <a:extLst>
              <a:ext uri="{FF2B5EF4-FFF2-40B4-BE49-F238E27FC236}">
                <a16:creationId xmlns:a16="http://schemas.microsoft.com/office/drawing/2014/main" id="{C72C266D-8915-4D63-875F-97B3E06B63DB}"/>
              </a:ext>
            </a:extLst>
          </p:cNvPr>
          <p:cNvPicPr>
            <a:picLocks noChangeAspect="1"/>
          </p:cNvPicPr>
          <p:nvPr/>
        </p:nvPicPr>
        <p:blipFill>
          <a:blip r:embed="rId3"/>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392641415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40F2-3E7B-49F9-9EDC-F18945082B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7B28D1-1D5E-4838-B1A4-8220D7AF39B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A97E867-050C-4CA8-AB79-D26751820AD7}"/>
              </a:ext>
            </a:extLst>
          </p:cNvPr>
          <p:cNvPicPr>
            <a:picLocks noChangeAspect="1"/>
          </p:cNvPicPr>
          <p:nvPr/>
        </p:nvPicPr>
        <p:blipFill>
          <a:blip r:embed="rId2"/>
          <a:stretch>
            <a:fillRect/>
          </a:stretch>
        </p:blipFill>
        <p:spPr>
          <a:xfrm>
            <a:off x="0" y="1"/>
            <a:ext cx="12192000" cy="6858000"/>
          </a:xfrm>
          <a:prstGeom prst="rect">
            <a:avLst/>
          </a:prstGeom>
        </p:spPr>
      </p:pic>
      <p:pic>
        <p:nvPicPr>
          <p:cNvPr id="5" name="Picture 4">
            <a:extLst>
              <a:ext uri="{FF2B5EF4-FFF2-40B4-BE49-F238E27FC236}">
                <a16:creationId xmlns:a16="http://schemas.microsoft.com/office/drawing/2014/main" id="{0791C45D-9991-4688-9BA6-A61C5B12B633}"/>
              </a:ext>
            </a:extLst>
          </p:cNvPr>
          <p:cNvPicPr>
            <a:picLocks noChangeAspect="1"/>
          </p:cNvPicPr>
          <p:nvPr/>
        </p:nvPicPr>
        <p:blipFill>
          <a:blip r:embed="rId3"/>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96715928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40F2-3E7B-49F9-9EDC-F18945082BDC}"/>
              </a:ext>
            </a:extLst>
          </p:cNvPr>
          <p:cNvSpPr>
            <a:spLocks noGrp="1"/>
          </p:cNvSpPr>
          <p:nvPr>
            <p:ph type="title"/>
          </p:nvPr>
        </p:nvSpPr>
        <p:spPr>
          <a:xfrm>
            <a:off x="677334" y="156308"/>
            <a:ext cx="8596668" cy="1320800"/>
          </a:xfrm>
        </p:spPr>
        <p:txBody>
          <a:bodyPr/>
          <a:lstStyle/>
          <a:p>
            <a:pPr algn="ctr"/>
            <a:r>
              <a:rPr lang="en-US" b="1" dirty="0">
                <a:solidFill>
                  <a:schemeClr val="accent2">
                    <a:lumMod val="60000"/>
                    <a:lumOff val="40000"/>
                  </a:schemeClr>
                </a:solidFill>
              </a:rPr>
              <a:t>Circuit Diagram</a:t>
            </a:r>
            <a:endParaRPr lang="en-IN" b="1" dirty="0">
              <a:solidFill>
                <a:schemeClr val="accent2">
                  <a:lumMod val="60000"/>
                  <a:lumOff val="40000"/>
                </a:schemeClr>
              </a:solidFill>
            </a:endParaRPr>
          </a:p>
        </p:txBody>
      </p:sp>
      <p:pic>
        <p:nvPicPr>
          <p:cNvPr id="5" name="Picture 4">
            <a:extLst>
              <a:ext uri="{FF2B5EF4-FFF2-40B4-BE49-F238E27FC236}">
                <a16:creationId xmlns:a16="http://schemas.microsoft.com/office/drawing/2014/main" id="{0791C45D-9991-4688-9BA6-A61C5B12B633}"/>
              </a:ext>
            </a:extLst>
          </p:cNvPr>
          <p:cNvPicPr>
            <a:picLocks noChangeAspect="1"/>
          </p:cNvPicPr>
          <p:nvPr/>
        </p:nvPicPr>
        <p:blipFill>
          <a:blip r:embed="rId2"/>
          <a:stretch>
            <a:fillRect/>
          </a:stretch>
        </p:blipFill>
        <p:spPr>
          <a:xfrm>
            <a:off x="10493356" y="85968"/>
            <a:ext cx="1590130" cy="898769"/>
          </a:xfrm>
          <a:prstGeom prst="rect">
            <a:avLst/>
          </a:prstGeom>
        </p:spPr>
      </p:pic>
      <p:pic>
        <p:nvPicPr>
          <p:cNvPr id="7" name="Picture 6">
            <a:extLst>
              <a:ext uri="{FF2B5EF4-FFF2-40B4-BE49-F238E27FC236}">
                <a16:creationId xmlns:a16="http://schemas.microsoft.com/office/drawing/2014/main" id="{36D2F222-044F-4A61-B36B-4ED92F38E5ED}"/>
              </a:ext>
            </a:extLst>
          </p:cNvPr>
          <p:cNvPicPr>
            <a:picLocks noChangeAspect="1"/>
          </p:cNvPicPr>
          <p:nvPr/>
        </p:nvPicPr>
        <p:blipFill>
          <a:blip r:embed="rId3"/>
          <a:stretch>
            <a:fillRect/>
          </a:stretch>
        </p:blipFill>
        <p:spPr>
          <a:xfrm>
            <a:off x="450692" y="890172"/>
            <a:ext cx="8740205" cy="5303520"/>
          </a:xfrm>
          <a:prstGeom prst="rect">
            <a:avLst/>
          </a:prstGeom>
        </p:spPr>
      </p:pic>
      <p:sp>
        <p:nvSpPr>
          <p:cNvPr id="3" name="TextBox 2">
            <a:extLst>
              <a:ext uri="{FF2B5EF4-FFF2-40B4-BE49-F238E27FC236}">
                <a16:creationId xmlns:a16="http://schemas.microsoft.com/office/drawing/2014/main" id="{0DDC31D4-7DC1-4902-8BBD-664285DEF20D}"/>
              </a:ext>
            </a:extLst>
          </p:cNvPr>
          <p:cNvSpPr txBox="1"/>
          <p:nvPr/>
        </p:nvSpPr>
        <p:spPr>
          <a:xfrm>
            <a:off x="1688125" y="6283572"/>
            <a:ext cx="6588369" cy="646331"/>
          </a:xfrm>
          <a:prstGeom prst="rect">
            <a:avLst/>
          </a:prstGeom>
          <a:noFill/>
        </p:spPr>
        <p:txBody>
          <a:bodyPr wrap="square" rtlCol="0">
            <a:spAutoFit/>
          </a:bodyPr>
          <a:lstStyle/>
          <a:p>
            <a:pPr algn="ctr"/>
            <a:r>
              <a:rPr lang="en-US" dirty="0"/>
              <a:t>The Original Code &amp; Circuit Diagram Is Available At opensource.bagresearch.co.in</a:t>
            </a:r>
            <a:endParaRPr lang="en-IN" dirty="0"/>
          </a:p>
        </p:txBody>
      </p:sp>
    </p:spTree>
    <p:extLst>
      <p:ext uri="{BB962C8B-B14F-4D97-AF65-F5344CB8AC3E}">
        <p14:creationId xmlns:p14="http://schemas.microsoft.com/office/powerpoint/2010/main" val="66872129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Principle</a:t>
            </a:r>
          </a:p>
        </p:txBody>
      </p:sp>
      <p:sp>
        <p:nvSpPr>
          <p:cNvPr id="3" name="Content Placeholder 2"/>
          <p:cNvSpPr>
            <a:spLocks noGrp="1"/>
          </p:cNvSpPr>
          <p:nvPr>
            <p:ph idx="1"/>
          </p:nvPr>
        </p:nvSpPr>
        <p:spPr>
          <a:xfrm>
            <a:off x="677334" y="2160589"/>
            <a:ext cx="8596668" cy="4227148"/>
          </a:xfrm>
        </p:spPr>
        <p:txBody>
          <a:bodyPr/>
          <a:lstStyle/>
          <a:p>
            <a:pPr marL="0" indent="0">
              <a:buNone/>
            </a:pPr>
            <a:r>
              <a:rPr lang="en-US" dirty="0"/>
              <a:t>The Smart Irrigation System continuously monitors soil and environmental conditions using various sensors. Based on the sensor readings, the system automatically decides when and how much water should be supplied to the plants.</a:t>
            </a:r>
          </a:p>
          <a:p>
            <a:r>
              <a:rPr lang="en-US" b="1" dirty="0"/>
              <a:t>Soil Moisture Control</a:t>
            </a:r>
          </a:p>
          <a:p>
            <a:r>
              <a:rPr lang="en-US" b="1" dirty="0"/>
              <a:t>0–20%:</a:t>
            </a:r>
            <a:r>
              <a:rPr lang="en-US" dirty="0"/>
              <a:t> Soil is very dry → High watering</a:t>
            </a:r>
          </a:p>
          <a:p>
            <a:r>
              <a:rPr lang="en-US" b="1" dirty="0"/>
              <a:t>20–50%:</a:t>
            </a:r>
            <a:r>
              <a:rPr lang="en-US" dirty="0"/>
              <a:t> Soil is slightly dry → Pulse watering</a:t>
            </a:r>
          </a:p>
          <a:p>
            <a:r>
              <a:rPr lang="en-US" b="1" dirty="0"/>
              <a:t>50–70%:</a:t>
            </a:r>
            <a:r>
              <a:rPr lang="en-US" dirty="0"/>
              <a:t> Moisture is optimal → No watering</a:t>
            </a:r>
          </a:p>
          <a:p>
            <a:r>
              <a:rPr lang="en-US" b="1" dirty="0"/>
              <a:t>Above 70%:</a:t>
            </a:r>
            <a:r>
              <a:rPr lang="en-US" dirty="0"/>
              <a:t> Soil is wet → No watering</a:t>
            </a:r>
          </a:p>
          <a:p>
            <a:endParaRPr lang="en-US" dirty="0"/>
          </a:p>
        </p:txBody>
      </p:sp>
      <p:pic>
        <p:nvPicPr>
          <p:cNvPr id="4" name="Picture 3">
            <a:extLst>
              <a:ext uri="{FF2B5EF4-FFF2-40B4-BE49-F238E27FC236}">
                <a16:creationId xmlns:a16="http://schemas.microsoft.com/office/drawing/2014/main" id="{09AC6597-23CD-41EC-8DDE-74726740F2DF}"/>
              </a:ext>
            </a:extLst>
          </p:cNvPr>
          <p:cNvPicPr>
            <a:picLocks noChangeAspect="1"/>
          </p:cNvPicPr>
          <p:nvPr/>
        </p:nvPicPr>
        <p:blipFill>
          <a:blip r:embed="rId2"/>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1652961182"/>
      </p:ext>
    </p:extLst>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Rain Detection</a:t>
            </a:r>
          </a:p>
        </p:txBody>
      </p:sp>
      <p:sp>
        <p:nvSpPr>
          <p:cNvPr id="3" name="Content Placeholder 2"/>
          <p:cNvSpPr>
            <a:spLocks noGrp="1"/>
          </p:cNvSpPr>
          <p:nvPr>
            <p:ph idx="1"/>
          </p:nvPr>
        </p:nvSpPr>
        <p:spPr/>
        <p:txBody>
          <a:bodyPr/>
          <a:lstStyle/>
          <a:p>
            <a:r>
              <a:rPr lang="en-US" dirty="0"/>
              <a:t>If rain is detected, watering stops automatically.</a:t>
            </a:r>
          </a:p>
          <a:p>
            <a:r>
              <a:rPr lang="en-US" b="1" dirty="0"/>
              <a:t>Temperature &amp; Humidity</a:t>
            </a:r>
          </a:p>
          <a:p>
            <a:r>
              <a:rPr lang="en-US" dirty="0"/>
              <a:t>High temperature → More watering</a:t>
            </a:r>
          </a:p>
          <a:p>
            <a:r>
              <a:rPr lang="en-US" dirty="0"/>
              <a:t>High humidity → Less watering</a:t>
            </a:r>
          </a:p>
          <a:p>
            <a:r>
              <a:rPr lang="en-US" b="1" dirty="0"/>
              <a:t>Light Monitoring</a:t>
            </a:r>
          </a:p>
          <a:p>
            <a:r>
              <a:rPr lang="en-US" dirty="0"/>
              <a:t>Watering can be avoided during strong sunlight to reduce water loss.</a:t>
            </a:r>
          </a:p>
          <a:p>
            <a:endParaRPr lang="en-US" dirty="0"/>
          </a:p>
        </p:txBody>
      </p:sp>
      <p:pic>
        <p:nvPicPr>
          <p:cNvPr id="4" name="Picture 3">
            <a:extLst>
              <a:ext uri="{FF2B5EF4-FFF2-40B4-BE49-F238E27FC236}">
                <a16:creationId xmlns:a16="http://schemas.microsoft.com/office/drawing/2014/main" id="{5F46530B-CD65-40F7-96ED-8F75A0F0F525}"/>
              </a:ext>
            </a:extLst>
          </p:cNvPr>
          <p:cNvPicPr>
            <a:picLocks noChangeAspect="1"/>
          </p:cNvPicPr>
          <p:nvPr/>
        </p:nvPicPr>
        <p:blipFill>
          <a:blip r:embed="rId2"/>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6832762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System Operation Flow</a:t>
            </a:r>
          </a:p>
        </p:txBody>
      </p:sp>
      <p:sp>
        <p:nvSpPr>
          <p:cNvPr id="3" name="Content Placeholder 2"/>
          <p:cNvSpPr>
            <a:spLocks noGrp="1"/>
          </p:cNvSpPr>
          <p:nvPr>
            <p:ph idx="1"/>
          </p:nvPr>
        </p:nvSpPr>
        <p:spPr>
          <a:xfrm>
            <a:off x="677334" y="2160589"/>
            <a:ext cx="8596668" cy="4161834"/>
          </a:xfrm>
        </p:spPr>
        <p:txBody>
          <a:bodyPr>
            <a:normAutofit fontScale="92500" lnSpcReduction="20000"/>
          </a:bodyPr>
          <a:lstStyle/>
          <a:p>
            <a:pPr marL="0" indent="0">
              <a:buNone/>
            </a:pPr>
            <a:r>
              <a:rPr lang="en-US" dirty="0"/>
              <a:t>If the tank is empty, the pump is turned off and an alert is generated</a:t>
            </a:r>
          </a:p>
          <a:p>
            <a:pPr marL="0" indent="0">
              <a:buNone/>
            </a:pPr>
            <a:r>
              <a:rPr lang="en-US" dirty="0"/>
              <a:t>.</a:t>
            </a:r>
          </a:p>
          <a:p>
            <a:r>
              <a:rPr lang="en-US" b="1" dirty="0"/>
              <a:t>System Operation Flow</a:t>
            </a:r>
          </a:p>
          <a:p>
            <a:r>
              <a:rPr lang="en-US" dirty="0"/>
              <a:t>Initialize sensors and modules.</a:t>
            </a:r>
          </a:p>
          <a:p>
            <a:r>
              <a:rPr lang="en-US" dirty="0"/>
              <a:t>Read sensor data.</a:t>
            </a:r>
          </a:p>
          <a:p>
            <a:r>
              <a:rPr lang="en-US" dirty="0"/>
              <a:t>Check water tank level.</a:t>
            </a:r>
          </a:p>
          <a:p>
            <a:r>
              <a:rPr lang="en-US" dirty="0"/>
              <a:t>Apply irrigation decision logic.</a:t>
            </a:r>
          </a:p>
          <a:p>
            <a:r>
              <a:rPr lang="en-US" dirty="0"/>
              <a:t>Control the water pump.</a:t>
            </a:r>
          </a:p>
          <a:p>
            <a:r>
              <a:rPr lang="en-US" dirty="0"/>
              <a:t>Display data on LCD.</a:t>
            </a:r>
          </a:p>
          <a:p>
            <a:r>
              <a:rPr lang="en-US" dirty="0"/>
              <a:t>Store data in SD card.</a:t>
            </a:r>
          </a:p>
          <a:p>
            <a:r>
              <a:rPr lang="en-US" dirty="0"/>
              <a:t>Send alerts if required.</a:t>
            </a:r>
          </a:p>
          <a:p>
            <a:r>
              <a:rPr lang="en-US" dirty="0"/>
              <a:t>Repeat the process continuously.</a:t>
            </a:r>
          </a:p>
          <a:p>
            <a:pPr marL="0" indent="0">
              <a:buNone/>
            </a:pPr>
            <a:endParaRPr lang="en-US" dirty="0"/>
          </a:p>
          <a:p>
            <a:endParaRPr lang="en-US" dirty="0"/>
          </a:p>
        </p:txBody>
      </p:sp>
      <p:pic>
        <p:nvPicPr>
          <p:cNvPr id="4" name="Picture 3">
            <a:extLst>
              <a:ext uri="{FF2B5EF4-FFF2-40B4-BE49-F238E27FC236}">
                <a16:creationId xmlns:a16="http://schemas.microsoft.com/office/drawing/2014/main" id="{BACD0B71-1659-4E9E-A50D-2EB55A82FAA2}"/>
              </a:ext>
            </a:extLst>
          </p:cNvPr>
          <p:cNvPicPr>
            <a:picLocks noChangeAspect="1"/>
          </p:cNvPicPr>
          <p:nvPr/>
        </p:nvPicPr>
        <p:blipFill>
          <a:blip r:embed="rId2"/>
          <a:stretch>
            <a:fillRect/>
          </a:stretch>
        </p:blipFill>
        <p:spPr>
          <a:xfrm>
            <a:off x="10493356" y="85968"/>
            <a:ext cx="1590130" cy="898769"/>
          </a:xfrm>
          <a:prstGeom prst="rect">
            <a:avLst/>
          </a:prstGeom>
        </p:spPr>
      </p:pic>
    </p:spTree>
    <p:extLst>
      <p:ext uri="{BB962C8B-B14F-4D97-AF65-F5344CB8AC3E}">
        <p14:creationId xmlns:p14="http://schemas.microsoft.com/office/powerpoint/2010/main" val="1653628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516A75-3064-4747-9DAB-D5D5AD372134}"/>
              </a:ext>
            </a:extLst>
          </p:cNvPr>
          <p:cNvSpPr txBox="1"/>
          <p:nvPr/>
        </p:nvSpPr>
        <p:spPr>
          <a:xfrm>
            <a:off x="341906" y="400595"/>
            <a:ext cx="9962984" cy="6186309"/>
          </a:xfrm>
          <a:prstGeom prst="rect">
            <a:avLst/>
          </a:prstGeom>
          <a:noFill/>
        </p:spPr>
        <p:txBody>
          <a:bodyPr wrap="square" rtlCol="0">
            <a:spAutoFit/>
          </a:bodyPr>
          <a:lstStyle/>
          <a:p>
            <a:pPr algn="ctr"/>
            <a:r>
              <a:rPr lang="en-US" sz="15000" dirty="0">
                <a:solidFill>
                  <a:schemeClr val="accent3">
                    <a:lumMod val="75000"/>
                  </a:schemeClr>
                </a:solidFill>
                <a:latin typeface="Broadway" panose="04040905080B02020502" pitchFamily="82" charset="0"/>
              </a:rPr>
              <a:t>Thank You</a:t>
            </a:r>
          </a:p>
          <a:p>
            <a:pPr algn="ctr"/>
            <a:r>
              <a:rPr lang="en-US" sz="4800" dirty="0"/>
              <a:t>“Neither there is a plan B</a:t>
            </a:r>
          </a:p>
          <a:p>
            <a:pPr algn="ctr"/>
            <a:r>
              <a:rPr lang="en-US" sz="4800" dirty="0"/>
              <a:t>Nor there is a planet B”</a:t>
            </a:r>
            <a:endParaRPr lang="en-IN" sz="4800" dirty="0"/>
          </a:p>
        </p:txBody>
      </p:sp>
    </p:spTree>
    <p:extLst>
      <p:ext uri="{BB962C8B-B14F-4D97-AF65-F5344CB8AC3E}">
        <p14:creationId xmlns:p14="http://schemas.microsoft.com/office/powerpoint/2010/main" val="349559447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71</TotalTime>
  <Words>380</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Broadway</vt:lpstr>
      <vt:lpstr>Cascadia Mono SemiBold</vt:lpstr>
      <vt:lpstr>Mangal</vt:lpstr>
      <vt:lpstr>Trebuchet MS</vt:lpstr>
      <vt:lpstr>Wingdings 3</vt:lpstr>
      <vt:lpstr>Facet</vt:lpstr>
      <vt:lpstr>Smart Adaptive Knowledge-based Soil Hydration  &amp; Automation Module (SAKSHAM)  Project Id :   0612   Theme :  Inspired by Nature. For Climate. For Our Future </vt:lpstr>
      <vt:lpstr>Introduction To This Project </vt:lpstr>
      <vt:lpstr>Smart Irrigation System</vt:lpstr>
      <vt:lpstr>To Automate Plant  Watering Based On Soil Conditions</vt:lpstr>
      <vt:lpstr>To Conserve Water By Avoiding Unnecessary Irrigation </vt:lpstr>
      <vt:lpstr>PowerPoint Presentation</vt:lpstr>
      <vt:lpstr>Circuit Diagram</vt:lpstr>
      <vt:lpstr>Working Principle</vt:lpstr>
      <vt:lpstr>Rain Detection</vt:lpstr>
      <vt:lpstr> System Operation 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Environment Day</dc:title>
  <dc:creator>RecordsDepartment</dc:creator>
  <cp:lastModifiedBy>Subhendu Sekhar Bag</cp:lastModifiedBy>
  <cp:revision>13</cp:revision>
  <dcterms:created xsi:type="dcterms:W3CDTF">2026-06-05T03:27:44Z</dcterms:created>
  <dcterms:modified xsi:type="dcterms:W3CDTF">2026-07-08T04:09:00Z</dcterms:modified>
</cp:coreProperties>
</file>